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3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9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9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4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8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6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0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4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3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51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4683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60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59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8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1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5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B51C739-A891-4846-8866-CF684A71AA08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631959-4019-4CB3-90AC-7897C07B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79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Phishing Awareness Training: Recognize, Resist, Respond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1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Introduction: Why Phishing Awareness Matters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Risk overview and training goals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Phishing as a systemic </a:t>
            </a:r>
            <a:r>
              <a:rPr lang="en-US" b="1" dirty="0" smtClean="0"/>
              <a:t>risk: </a:t>
            </a:r>
            <a:r>
              <a:rPr lang="en-US" dirty="0"/>
              <a:t>Attackers exploit human attention, routine communication, and trust signals to bypass technical defenses and reach sensitive systems</a:t>
            </a:r>
            <a:r>
              <a:rPr lang="en-US" dirty="0" smtClean="0"/>
              <a:t>.</a:t>
            </a:r>
          </a:p>
          <a:p>
            <a:r>
              <a:rPr lang="en-US" b="1" dirty="0"/>
              <a:t>Why people are </a:t>
            </a:r>
            <a:r>
              <a:rPr lang="en-US" b="1" dirty="0" smtClean="0"/>
              <a:t>targeted: </a:t>
            </a:r>
            <a:r>
              <a:rPr lang="en-US" dirty="0"/>
              <a:t>Individuals are often the easiest entry point because credentials, approvals, and fast responses can be manipulated at scale</a:t>
            </a:r>
            <a:r>
              <a:rPr lang="en-US" dirty="0" smtClean="0"/>
              <a:t>.</a:t>
            </a:r>
          </a:p>
          <a:p>
            <a:r>
              <a:rPr lang="en-US" b="1" dirty="0"/>
              <a:t>Training </a:t>
            </a:r>
            <a:r>
              <a:rPr lang="en-US" b="1" dirty="0" smtClean="0"/>
              <a:t>outcomes: </a:t>
            </a:r>
            <a:r>
              <a:rPr lang="en-US" dirty="0"/>
              <a:t>Participants learn to spot red flags, slow down unsafe actions, and choose verification steps before interacting with content</a:t>
            </a:r>
            <a:r>
              <a:rPr lang="en-US" dirty="0" smtClean="0"/>
              <a:t>.</a:t>
            </a:r>
          </a:p>
          <a:p>
            <a:r>
              <a:rPr lang="en-US" b="1" dirty="0"/>
              <a:t>Impact on work and </a:t>
            </a:r>
            <a:r>
              <a:rPr lang="en-US" b="1" dirty="0" smtClean="0"/>
              <a:t>life: </a:t>
            </a:r>
            <a:r>
              <a:rPr lang="en-US" dirty="0"/>
              <a:t>A single click can trigger financial loss, data exposure, account takeover, reputational damage, and personal identity theft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Phishing awareness reduces avoidable exposure by teaching people to detect manipulation, protect data, and interrupt attacks early.</a:t>
            </a:r>
          </a:p>
        </p:txBody>
      </p:sp>
    </p:spTree>
    <p:extLst>
      <p:ext uri="{BB962C8B-B14F-4D97-AF65-F5344CB8AC3E}">
        <p14:creationId xmlns:p14="http://schemas.microsoft.com/office/powerpoint/2010/main" val="228749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Understanding Phishing Attacks</a:t>
            </a:r>
            <a:r>
              <a:rPr lang="en-US" dirty="0"/>
              <a:t/>
            </a:r>
            <a:br>
              <a:rPr lang="en-US" dirty="0"/>
            </a:br>
            <a:r>
              <a:rPr lang="en-US" sz="3600" dirty="0" smtClean="0"/>
              <a:t>c</a:t>
            </a:r>
            <a:r>
              <a:rPr lang="en-US" sz="3600" dirty="0"/>
              <a:t>ommon attack patterns and delivery </a:t>
            </a:r>
            <a:r>
              <a:rPr lang="en-US" sz="3600" dirty="0" smtClean="0"/>
              <a:t>channels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Email </a:t>
            </a:r>
            <a:r>
              <a:rPr lang="en-US" dirty="0" smtClean="0"/>
              <a:t>lures: </a:t>
            </a:r>
            <a:r>
              <a:rPr lang="en-US" dirty="0"/>
              <a:t>Mass-distributed messages imitate familiar brands or coworkers, using fabricated invoices, alerts, or account notices to provoke clicks</a:t>
            </a:r>
            <a:r>
              <a:rPr lang="en-US" dirty="0" smtClean="0"/>
              <a:t>.</a:t>
            </a:r>
          </a:p>
          <a:p>
            <a:r>
              <a:rPr lang="en-US" dirty="0"/>
              <a:t>Targeted </a:t>
            </a:r>
            <a:r>
              <a:rPr lang="en-US" dirty="0" err="1" smtClean="0"/>
              <a:t>spearphishing</a:t>
            </a:r>
            <a:r>
              <a:rPr lang="en-US" dirty="0" smtClean="0"/>
              <a:t>: </a:t>
            </a:r>
            <a:r>
              <a:rPr lang="en-US" dirty="0"/>
              <a:t>Attackers research roles, relationships, and current projects so the message feels personally relevant and highly credible</a:t>
            </a:r>
            <a:r>
              <a:rPr lang="en-US" dirty="0" smtClean="0"/>
              <a:t>.</a:t>
            </a:r>
          </a:p>
          <a:p>
            <a:r>
              <a:rPr lang="en-US" dirty="0" err="1"/>
              <a:t>Smishing</a:t>
            </a:r>
            <a:r>
              <a:rPr lang="en-US" dirty="0"/>
              <a:t> and </a:t>
            </a:r>
            <a:r>
              <a:rPr lang="en-US" dirty="0" err="1" smtClean="0"/>
              <a:t>vishing</a:t>
            </a:r>
            <a:r>
              <a:rPr lang="en-US" dirty="0" smtClean="0"/>
              <a:t>: Fraudsters </a:t>
            </a:r>
            <a:r>
              <a:rPr lang="en-US" dirty="0"/>
              <a:t>use SMS or phone calls to pressure victims into revealing codes, confirming details, or installing malicious tools</a:t>
            </a:r>
            <a:r>
              <a:rPr lang="en-US" dirty="0" smtClean="0"/>
              <a:t>.</a:t>
            </a:r>
          </a:p>
          <a:p>
            <a:r>
              <a:rPr lang="en-US" dirty="0"/>
              <a:t>Deceptive links and </a:t>
            </a:r>
            <a:r>
              <a:rPr lang="en-US" dirty="0" smtClean="0"/>
              <a:t>sites: </a:t>
            </a:r>
            <a:r>
              <a:rPr lang="en-US" dirty="0"/>
              <a:t>Lookalike domains and counterfeit login portals harvest passwords, tokens, and payment information through visual imitation.</a:t>
            </a:r>
          </a:p>
          <a:p>
            <a:pPr marL="0" indent="0">
              <a:buNone/>
            </a:pPr>
            <a:r>
              <a:rPr lang="en-US" dirty="0"/>
              <a:t>Phishing comes in several forms, but all variants aim to induce trust, urgency, or curiosity before users verify.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95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Recognize Suspicious Emails and Websites</a:t>
            </a:r>
            <a:r>
              <a:rPr lang="en-US" dirty="0"/>
              <a:t/>
            </a:r>
            <a:br>
              <a:rPr lang="en-US" dirty="0"/>
            </a:br>
            <a:r>
              <a:rPr lang="en-US" sz="4000" dirty="0"/>
              <a:t>Visual and behavioral warning signs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High-pressure </a:t>
            </a:r>
            <a:r>
              <a:rPr lang="en-US" b="1" dirty="0" smtClean="0"/>
              <a:t>wording: </a:t>
            </a:r>
            <a:r>
              <a:rPr lang="en-US" dirty="0"/>
              <a:t>Threats, deadlines, or emotional triggers are designed to override careful judgment and force immediate action</a:t>
            </a:r>
            <a:r>
              <a:rPr lang="en-US" dirty="0" smtClean="0"/>
              <a:t>.</a:t>
            </a:r>
          </a:p>
          <a:p>
            <a:r>
              <a:rPr lang="en-US" b="1" dirty="0"/>
              <a:t>Sender </a:t>
            </a:r>
            <a:r>
              <a:rPr lang="en-US" b="1" dirty="0" smtClean="0"/>
              <a:t>mismatch: </a:t>
            </a:r>
            <a:r>
              <a:rPr lang="en-US" dirty="0"/>
              <a:t>Display names may appear legitimate while the actual domain contains subtle misspellings, extra characters, or unrelated origins</a:t>
            </a:r>
            <a:r>
              <a:rPr lang="en-US" dirty="0" smtClean="0"/>
              <a:t>.</a:t>
            </a:r>
          </a:p>
          <a:p>
            <a:r>
              <a:rPr lang="en-US" b="1" dirty="0"/>
              <a:t>Unexpected </a:t>
            </a:r>
            <a:r>
              <a:rPr lang="en-US" b="1" dirty="0" smtClean="0"/>
              <a:t>files: </a:t>
            </a:r>
            <a:r>
              <a:rPr lang="en-US" dirty="0"/>
              <a:t>Attachments with invoices, archives, or documents can conceal malware or password-stealing payloads when opened</a:t>
            </a:r>
            <a:r>
              <a:rPr lang="en-US" dirty="0" smtClean="0"/>
              <a:t>.</a:t>
            </a:r>
          </a:p>
          <a:p>
            <a:r>
              <a:rPr lang="en-US" b="1" dirty="0"/>
              <a:t>Imitation login </a:t>
            </a:r>
            <a:r>
              <a:rPr lang="en-US" b="1" dirty="0" smtClean="0"/>
              <a:t>pages: </a:t>
            </a:r>
            <a:r>
              <a:rPr lang="en-US" dirty="0"/>
              <a:t>Spoofed portals mirror branding and layout, but form destinations and web addresses reveal the theft attempt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Suspicion rises when message tone, sender identity, file behavior, or login destination deviates from normal trusted patterns.</a:t>
            </a:r>
          </a:p>
        </p:txBody>
      </p:sp>
    </p:spTree>
    <p:extLst>
      <p:ext uri="{BB962C8B-B14F-4D97-AF65-F5344CB8AC3E}">
        <p14:creationId xmlns:p14="http://schemas.microsoft.com/office/powerpoint/2010/main" val="194888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Social Engineering Tactics Used by </a:t>
            </a:r>
            <a:r>
              <a:rPr lang="en-US" b="1" dirty="0" smtClean="0"/>
              <a:t>Attackers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/>
              <a:t>Psychological manipulation techniques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Borrowed </a:t>
            </a:r>
            <a:r>
              <a:rPr lang="en-US" b="1" dirty="0" smtClean="0"/>
              <a:t>authority</a:t>
            </a:r>
            <a:r>
              <a:rPr lang="en-US" dirty="0" smtClean="0"/>
              <a:t>: </a:t>
            </a:r>
            <a:r>
              <a:rPr lang="en-US" dirty="0"/>
              <a:t>Messages impersonate executives, IT staff, or institutions to make compliance seem expected and non-negotiable</a:t>
            </a:r>
            <a:r>
              <a:rPr lang="en-US" dirty="0" smtClean="0"/>
              <a:t>.</a:t>
            </a:r>
          </a:p>
          <a:p>
            <a:r>
              <a:rPr lang="en-US" b="1" dirty="0"/>
              <a:t>Manufactured </a:t>
            </a:r>
            <a:r>
              <a:rPr lang="en-US" b="1" dirty="0" smtClean="0"/>
              <a:t>urgency</a:t>
            </a:r>
            <a:r>
              <a:rPr lang="en-US" dirty="0" smtClean="0"/>
              <a:t>: </a:t>
            </a:r>
            <a:r>
              <a:rPr lang="en-US" dirty="0"/>
              <a:t>Short response windows and alarming consequences reduce reflection and increase the chance of hasty mistakes</a:t>
            </a:r>
            <a:r>
              <a:rPr lang="en-US" dirty="0" smtClean="0"/>
              <a:t>.</a:t>
            </a:r>
          </a:p>
          <a:p>
            <a:r>
              <a:rPr lang="en-US" b="1" dirty="0"/>
              <a:t>Reward-driven </a:t>
            </a:r>
            <a:r>
              <a:rPr lang="en-US" b="1" dirty="0" smtClean="0"/>
              <a:t>curiosity</a:t>
            </a:r>
            <a:r>
              <a:rPr lang="en-US" dirty="0" smtClean="0"/>
              <a:t>: </a:t>
            </a:r>
            <a:r>
              <a:rPr lang="en-US" dirty="0"/>
              <a:t>Promises of refunds, prizes, or insider information tempt users to engage with unsafe links or forms</a:t>
            </a:r>
            <a:r>
              <a:rPr lang="en-US" dirty="0" smtClean="0"/>
              <a:t>.</a:t>
            </a:r>
          </a:p>
          <a:p>
            <a:r>
              <a:rPr lang="en-US" b="1" dirty="0"/>
              <a:t>Trust through </a:t>
            </a:r>
            <a:r>
              <a:rPr lang="en-US" b="1" dirty="0" smtClean="0"/>
              <a:t>pretext</a:t>
            </a:r>
            <a:r>
              <a:rPr lang="en-US" dirty="0" smtClean="0"/>
              <a:t>: </a:t>
            </a:r>
            <a:r>
              <a:rPr lang="en-US" dirty="0"/>
              <a:t>Attackers construct plausible stories and identities that fit the context well enough to pass casual scrutiny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Attackers rarely rely on technology alone; they shape behavior by borrowing authority, emotions, and social expectations.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6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Best Practices to Avoid Falling Victim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Practical defensive </a:t>
            </a:r>
            <a:r>
              <a:rPr lang="en-US" dirty="0" smtClean="0"/>
              <a:t>habits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Check before </a:t>
            </a:r>
            <a:r>
              <a:rPr lang="en-US" b="1" dirty="0" smtClean="0"/>
              <a:t>opening</a:t>
            </a:r>
            <a:r>
              <a:rPr lang="en-US" dirty="0" smtClean="0"/>
              <a:t>: </a:t>
            </a:r>
            <a:r>
              <a:rPr lang="en-US" dirty="0"/>
              <a:t>Confirm sender identity, hover over links, and validate requests through known channels before taking any action</a:t>
            </a:r>
            <a:r>
              <a:rPr lang="en-US" dirty="0" smtClean="0"/>
              <a:t>.</a:t>
            </a:r>
          </a:p>
          <a:p>
            <a:r>
              <a:rPr lang="en-US" b="1" dirty="0"/>
              <a:t>Escalate suspicious </a:t>
            </a:r>
            <a:r>
              <a:rPr lang="en-US" b="1" dirty="0" smtClean="0"/>
              <a:t>messages</a:t>
            </a:r>
            <a:r>
              <a:rPr lang="en-US" dirty="0" smtClean="0"/>
              <a:t>: </a:t>
            </a:r>
            <a:r>
              <a:rPr lang="en-US" dirty="0"/>
              <a:t>Forward suspected phishing to security teams so indicators can be blocked and colleagues protected quickly</a:t>
            </a:r>
            <a:r>
              <a:rPr lang="en-US" dirty="0" smtClean="0"/>
              <a:t>.</a:t>
            </a:r>
          </a:p>
          <a:p>
            <a:r>
              <a:rPr lang="en-US" b="1" dirty="0"/>
              <a:t>Enable strong </a:t>
            </a:r>
            <a:r>
              <a:rPr lang="en-US" b="1" dirty="0" smtClean="0"/>
              <a:t>MFA</a:t>
            </a:r>
            <a:r>
              <a:rPr lang="en-US" dirty="0" smtClean="0"/>
              <a:t>: </a:t>
            </a:r>
            <a:r>
              <a:rPr lang="en-US" dirty="0"/>
              <a:t>Multi-factor authentication limits account takeover even when passwords are compromised or reused elsewhere</a:t>
            </a:r>
            <a:r>
              <a:rPr lang="en-US" dirty="0" smtClean="0"/>
              <a:t>.</a:t>
            </a:r>
          </a:p>
          <a:p>
            <a:r>
              <a:rPr lang="en-US" b="1" dirty="0"/>
              <a:t>Pause and </a:t>
            </a:r>
            <a:r>
              <a:rPr lang="en-US" b="1" dirty="0" smtClean="0"/>
              <a:t>validate</a:t>
            </a:r>
            <a:r>
              <a:rPr lang="en-US" dirty="0" smtClean="0"/>
              <a:t>: </a:t>
            </a:r>
            <a:r>
              <a:rPr lang="en-US" dirty="0"/>
              <a:t>When a request is unusual, verify timing, amount, and destination through a separate trusted contact route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Safe behavior depends on friction: pause, confirm independently, and use layered controls that reduce the impact of mistakes.</a:t>
            </a:r>
          </a:p>
        </p:txBody>
      </p:sp>
    </p:spTree>
    <p:extLst>
      <p:ext uri="{BB962C8B-B14F-4D97-AF65-F5344CB8AC3E}">
        <p14:creationId xmlns:p14="http://schemas.microsoft.com/office/powerpoint/2010/main" val="2496033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Real-World Phishing Examples and Lessons Learned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Patterns seen in common attack </a:t>
            </a:r>
            <a:r>
              <a:rPr lang="en-US" dirty="0" smtClean="0"/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Google Docs Scam: </a:t>
            </a:r>
            <a:r>
              <a:rPr lang="en-US" dirty="0" smtClean="0"/>
              <a:t>Fake Google Docs invites stole Gmail access.</a:t>
            </a:r>
            <a:br>
              <a:rPr lang="en-US" dirty="0" smtClean="0"/>
            </a:br>
            <a:r>
              <a:rPr lang="en-US" b="1" dirty="0" smtClean="0"/>
              <a:t>Lesson:</a:t>
            </a:r>
            <a:r>
              <a:rPr lang="en-US" dirty="0" smtClean="0"/>
              <a:t> Verify senders before opening shared files.</a:t>
            </a:r>
          </a:p>
          <a:p>
            <a:r>
              <a:rPr lang="en-US" b="1" dirty="0" smtClean="0"/>
              <a:t>PayPal Fake Emails: </a:t>
            </a:r>
            <a:r>
              <a:rPr lang="en-US" dirty="0" smtClean="0"/>
              <a:t>Users were redirected to fake PayPal login pages.</a:t>
            </a:r>
            <a:br>
              <a:rPr lang="en-US" dirty="0" smtClean="0"/>
            </a:br>
            <a:r>
              <a:rPr lang="en-US" b="1" dirty="0" smtClean="0"/>
              <a:t>Lesson:</a:t>
            </a:r>
            <a:r>
              <a:rPr lang="en-US" dirty="0" smtClean="0"/>
              <a:t> Always check website URLs carefully.</a:t>
            </a:r>
          </a:p>
          <a:p>
            <a:r>
              <a:rPr lang="en-US" b="1" dirty="0" smtClean="0"/>
              <a:t>Facebook Security Scam: </a:t>
            </a:r>
            <a:r>
              <a:rPr lang="en-US" dirty="0" smtClean="0"/>
              <a:t>Fake password reset emails captured user credentials.</a:t>
            </a:r>
            <a:br>
              <a:rPr lang="en-US" dirty="0" smtClean="0"/>
            </a:br>
            <a:r>
              <a:rPr lang="en-US" b="1" dirty="0" smtClean="0"/>
              <a:t>Lesson:</a:t>
            </a:r>
            <a:r>
              <a:rPr lang="en-US" dirty="0" smtClean="0"/>
              <a:t> Use official apps/sites to verify alerts.</a:t>
            </a:r>
          </a:p>
          <a:p>
            <a:r>
              <a:rPr lang="en-US" b="1" dirty="0" smtClean="0"/>
              <a:t>COVID-19 Phishing: </a:t>
            </a:r>
            <a:r>
              <a:rPr lang="en-US" dirty="0" smtClean="0"/>
              <a:t>Scammers used fake health updates and vaccine emails.</a:t>
            </a:r>
            <a:br>
              <a:rPr lang="en-US" dirty="0" smtClean="0"/>
            </a:br>
            <a:r>
              <a:rPr lang="en-US" b="1" dirty="0" smtClean="0"/>
              <a:t>Lesson:</a:t>
            </a:r>
            <a:r>
              <a:rPr lang="en-US" dirty="0" smtClean="0"/>
              <a:t> Avoid clicking emotional or urgent messages.</a:t>
            </a:r>
          </a:p>
          <a:p>
            <a:r>
              <a:rPr lang="en-US" b="1" dirty="0" smtClean="0"/>
              <a:t>Banking SMS Scam: </a:t>
            </a:r>
            <a:r>
              <a:rPr lang="en-US" dirty="0" smtClean="0"/>
              <a:t>Fake bank messages asked users to click malicious links.</a:t>
            </a:r>
            <a:br>
              <a:rPr lang="en-US" dirty="0" smtClean="0"/>
            </a:br>
            <a:r>
              <a:rPr lang="en-US" b="1" dirty="0" smtClean="0"/>
              <a:t>Lesson:</a:t>
            </a:r>
            <a:r>
              <a:rPr lang="en-US" dirty="0" smtClean="0"/>
              <a:t> Never share banking details through SMS links.</a:t>
            </a:r>
          </a:p>
          <a:p>
            <a:pPr marL="0" indent="0">
              <a:buNone/>
            </a:pPr>
            <a:r>
              <a:rPr lang="en-US" dirty="0"/>
              <a:t>Real incidents show that phishing succeeds by blending ordinary business language with covert credential theft and payment diversion.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60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Conclusion: Stay Alert, Verify, and Report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Sustained vigilance and response </a:t>
            </a:r>
            <a:r>
              <a:rPr lang="en-US" dirty="0" smtClean="0"/>
              <a:t>discipline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Warning signs </a:t>
            </a:r>
            <a:r>
              <a:rPr lang="en-US" b="1" dirty="0" smtClean="0"/>
              <a:t>matter: </a:t>
            </a:r>
            <a:r>
              <a:rPr lang="en-US" dirty="0"/>
              <a:t>Unusual urgency, sender inconsistencies, and unexpected requests are early indicators that deserve immediate scrutiny</a:t>
            </a:r>
            <a:r>
              <a:rPr lang="en-US" dirty="0" smtClean="0"/>
              <a:t>.</a:t>
            </a:r>
          </a:p>
          <a:p>
            <a:r>
              <a:rPr lang="en-US" b="1" dirty="0"/>
              <a:t>Build safe </a:t>
            </a:r>
            <a:r>
              <a:rPr lang="en-US" b="1" dirty="0" smtClean="0"/>
              <a:t>habits: </a:t>
            </a:r>
            <a:r>
              <a:rPr lang="en-US" dirty="0"/>
              <a:t>Slow down, verify through trusted contacts, and avoid acting from the message alone</a:t>
            </a:r>
            <a:r>
              <a:rPr lang="en-US" dirty="0" smtClean="0"/>
              <a:t>.</a:t>
            </a:r>
          </a:p>
          <a:p>
            <a:r>
              <a:rPr lang="en-US" b="1" dirty="0"/>
              <a:t>Use reporting </a:t>
            </a:r>
            <a:r>
              <a:rPr lang="en-US" b="1" dirty="0" smtClean="0"/>
              <a:t>paths: </a:t>
            </a:r>
            <a:r>
              <a:rPr lang="en-US" dirty="0"/>
              <a:t>Rapid reporting helps security teams contain incidents, warn others, and improve </a:t>
            </a:r>
            <a:r>
              <a:rPr lang="en-US" dirty="0" smtClean="0"/>
              <a:t>controls</a:t>
            </a:r>
          </a:p>
          <a:p>
            <a:r>
              <a:rPr lang="en-US" b="1" dirty="0"/>
              <a:t>Stay continuously </a:t>
            </a:r>
            <a:r>
              <a:rPr lang="en-US" b="1" dirty="0" smtClean="0"/>
              <a:t>vigilant: </a:t>
            </a:r>
            <a:r>
              <a:rPr lang="en-US" dirty="0"/>
              <a:t>Phishing adapts quickly, so awareness must be refreshed through practice, </a:t>
            </a:r>
            <a:r>
              <a:rPr lang="en-US" dirty="0" smtClean="0"/>
              <a:t>reminders</a:t>
            </a:r>
            <a:r>
              <a:rPr lang="en-US" dirty="0"/>
              <a:t>, and culture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Effective defense is a continuous routine: recognize warning signs, verify outside the message, and report without delay.</a:t>
            </a:r>
          </a:p>
        </p:txBody>
      </p:sp>
    </p:spTree>
    <p:extLst>
      <p:ext uri="{BB962C8B-B14F-4D97-AF65-F5344CB8AC3E}">
        <p14:creationId xmlns:p14="http://schemas.microsoft.com/office/powerpoint/2010/main" val="66461149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34</TotalTime>
  <Words>721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Droplet</vt:lpstr>
      <vt:lpstr>Phishing Awareness Training: Recognize, Resist, Respond</vt:lpstr>
      <vt:lpstr>Introduction: Why Phishing Awareness Matters Risk overview and training goals </vt:lpstr>
      <vt:lpstr>Understanding Phishing Attacks common attack patterns and delivery channels</vt:lpstr>
      <vt:lpstr>How to Recognize Suspicious Emails and Websites Visual and behavioral warning signs </vt:lpstr>
      <vt:lpstr>Social Engineering Tactics Used by Attackers Psychological manipulation techniques </vt:lpstr>
      <vt:lpstr>Best Practices to Avoid Falling Victim Practical defensive habits</vt:lpstr>
      <vt:lpstr>Real-World Phishing Examples and Lessons Learned Patterns seen in common attack cases</vt:lpstr>
      <vt:lpstr>Conclusion: Stay Alert, Verify, and Report Sustained vigilance and response discipline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Training: Recognize, Resist, Respond</dc:title>
  <dc:creator>Admin</dc:creator>
  <cp:lastModifiedBy>Admin</cp:lastModifiedBy>
  <cp:revision>5</cp:revision>
  <dcterms:created xsi:type="dcterms:W3CDTF">2026-05-28T15:56:35Z</dcterms:created>
  <dcterms:modified xsi:type="dcterms:W3CDTF">2026-05-28T16:31:31Z</dcterms:modified>
</cp:coreProperties>
</file>